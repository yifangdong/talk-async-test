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9" r:id="rId3"/>
    <p:sldId id="265" r:id="rId4"/>
    <p:sldId id="262" r:id="rId5"/>
    <p:sldId id="263" r:id="rId6"/>
    <p:sldId id="264" r:id="rId7"/>
    <p:sldId id="277" r:id="rId8"/>
    <p:sldId id="278" r:id="rId9"/>
    <p:sldId id="276" r:id="rId10"/>
    <p:sldId id="271"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1FC19-7087-4DAE-BDE3-0D69A7BD722F}" v="4" dt="2025-04-08T06:15:22.0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8023" autoAdjust="0"/>
  </p:normalViewPr>
  <p:slideViewPr>
    <p:cSldViewPr snapToGrid="0">
      <p:cViewPr varScale="1">
        <p:scale>
          <a:sx n="65" d="100"/>
          <a:sy n="65" d="100"/>
        </p:scale>
        <p:origin x="131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CA956-3376-4892-8987-80E6809282F4}"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37440-E792-4C0F-9E87-0CC1D361B8DB}" type="slidenum">
              <a:rPr lang="en-US" smtClean="0"/>
              <a:t>‹#›</a:t>
            </a:fld>
            <a:endParaRPr lang="en-US"/>
          </a:p>
        </p:txBody>
      </p:sp>
    </p:spTree>
    <p:extLst>
      <p:ext uri="{BB962C8B-B14F-4D97-AF65-F5344CB8AC3E}">
        <p14:creationId xmlns:p14="http://schemas.microsoft.com/office/powerpoint/2010/main" val="3353460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et bienvenue à ce talk. Merci beaucoup d'être présents. Aujourd'hui, je vais vous montrer comment maîtriser les tests de code asynchrone, à partir d'un exemple concret que j'ai rencontré dans mon travail.</a:t>
            </a:r>
          </a:p>
          <a:p>
            <a:endParaRPr lang="fr-FR" dirty="0"/>
          </a:p>
          <a:p>
            <a:r>
              <a:rPr lang="fr-FR" dirty="0"/>
              <a:t>Je m'appelle Yifang, je suis développeuse senior chez Murex. Je travaille principalement sur Java et C++. Je suis aussi un coach technique. J'aide les équipes à mettre en place de bonnes pratiques comme le TDD, le refactoring à grande échelle, etc. Murex est une entreprise qui fournit des solutions pour les marchés financiers. Si vous souhaitez en savoir plus, n'hésitez pas à venir nous rencontrer sur notre stand au forum.</a:t>
            </a:r>
            <a:endParaRPr lang="fr-FR" b="0" dirty="0"/>
          </a:p>
        </p:txBody>
      </p:sp>
      <p:sp>
        <p:nvSpPr>
          <p:cNvPr id="4" name="Slide Number Placeholder 3"/>
          <p:cNvSpPr>
            <a:spLocks noGrp="1"/>
          </p:cNvSpPr>
          <p:nvPr>
            <p:ph type="sldNum" sz="quarter" idx="5"/>
          </p:nvPr>
        </p:nvSpPr>
        <p:spPr/>
        <p:txBody>
          <a:bodyPr/>
          <a:lstStyle/>
          <a:p>
            <a:fld id="{A5E37440-E792-4C0F-9E87-0CC1D361B8DB}" type="slidenum">
              <a:rPr lang="en-US" smtClean="0"/>
              <a:t>1</a:t>
            </a:fld>
            <a:endParaRPr lang="en-US"/>
          </a:p>
        </p:txBody>
      </p:sp>
    </p:spTree>
    <p:extLst>
      <p:ext uri="{BB962C8B-B14F-4D97-AF65-F5344CB8AC3E}">
        <p14:creationId xmlns:p14="http://schemas.microsoft.com/office/powerpoint/2010/main" val="2564937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savons tou</a:t>
            </a:r>
            <a:r>
              <a:rPr lang="fr-FR" b="1" dirty="0"/>
              <a:t>s</a:t>
            </a:r>
            <a:r>
              <a:rPr lang="fr-FR" dirty="0"/>
              <a:t> que les tests sont essentiels pour garantir la qualité du code. </a:t>
            </a:r>
          </a:p>
          <a:p>
            <a:r>
              <a:rPr lang="fr-FR" dirty="0"/>
              <a:t>…</a:t>
            </a:r>
          </a:p>
          <a:p>
            <a:r>
              <a:rPr lang="fr-FR" dirty="0"/>
              <a:t>Mais tester du code asynchrone, c'est là que les choses commencent à se compliquer.</a:t>
            </a:r>
            <a:endParaRPr lang="en-US" dirty="0"/>
          </a:p>
        </p:txBody>
      </p:sp>
      <p:sp>
        <p:nvSpPr>
          <p:cNvPr id="4" name="Slide Number Placeholder 3"/>
          <p:cNvSpPr>
            <a:spLocks noGrp="1"/>
          </p:cNvSpPr>
          <p:nvPr>
            <p:ph type="sldNum" sz="quarter" idx="5"/>
          </p:nvPr>
        </p:nvSpPr>
        <p:spPr/>
        <p:txBody>
          <a:bodyPr/>
          <a:lstStyle/>
          <a:p>
            <a:fld id="{A5E37440-E792-4C0F-9E87-0CC1D361B8DB}" type="slidenum">
              <a:rPr lang="en-US" smtClean="0"/>
              <a:t>2</a:t>
            </a:fld>
            <a:endParaRPr lang="en-US"/>
          </a:p>
        </p:txBody>
      </p:sp>
    </p:spTree>
    <p:extLst>
      <p:ext uri="{BB962C8B-B14F-4D97-AF65-F5344CB8AC3E}">
        <p14:creationId xmlns:p14="http://schemas.microsoft.com/office/powerpoint/2010/main" val="3419610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Prenons une architecture classique : le système comporte deux couches : une couche session qui gère les permissions, et une couche serveur qui effectue les calculs.</a:t>
            </a:r>
          </a:p>
          <a:p>
            <a:r>
              <a:rPr lang="fr-FR" dirty="0"/>
              <a:t>Quand un utilisateur envoie une demande, elle passe d'abord par la couche session, qui demande à la couche serveur d'exécuter cette commande. Ensuite, le serveur effectue les calculs et envoie une notification complète à la couche session, qui applique alors les permissions puis envoie la notification avec les résultats filtrés à l'utilisateur.</a:t>
            </a:r>
          </a:p>
          <a:p>
            <a:r>
              <a:rPr lang="fr-FR" dirty="0"/>
              <a:t>Je voulais tester que, lorsqu'une action est effectuée par l'utilisateur, il reçoit bien la notification attendue. Il faut comprendre que dans ce système, le calcul prend du temps, et l'application des droits aussi. Pour que le serveur puisse gérer les notifications sans bloquer le traitement des autres requêtes, j'ai utilisé un pool de threads dans le serveur pour envoyer les notifications. Le même pattern est appliqué dans la couche session.</a:t>
            </a:r>
          </a:p>
          <a:p>
            <a:r>
              <a:rPr lang="fr-FR" dirty="0"/>
              <a:t>Aujourd'hui, pour simplifier la, nous allons juste tester la partie session.</a:t>
            </a:r>
            <a:endParaRPr lang="en-US" dirty="0"/>
          </a:p>
        </p:txBody>
      </p:sp>
      <p:sp>
        <p:nvSpPr>
          <p:cNvPr id="4" name="Slide Number Placeholder 3"/>
          <p:cNvSpPr>
            <a:spLocks noGrp="1"/>
          </p:cNvSpPr>
          <p:nvPr>
            <p:ph type="sldNum" sz="quarter" idx="5"/>
          </p:nvPr>
        </p:nvSpPr>
        <p:spPr/>
        <p:txBody>
          <a:bodyPr/>
          <a:lstStyle/>
          <a:p>
            <a:fld id="{A5E37440-E792-4C0F-9E87-0CC1D361B8DB}" type="slidenum">
              <a:rPr lang="en-US" smtClean="0"/>
              <a:t>3</a:t>
            </a:fld>
            <a:endParaRPr lang="en-US"/>
          </a:p>
        </p:txBody>
      </p:sp>
    </p:spTree>
    <p:extLst>
      <p:ext uri="{BB962C8B-B14F-4D97-AF65-F5344CB8AC3E}">
        <p14:creationId xmlns:p14="http://schemas.microsoft.com/office/powerpoint/2010/main" val="1258425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424242"/>
                </a:solidFill>
                <a:effectLst/>
                <a:latin typeface="Segoe Sans"/>
              </a:rPr>
              <a:t>Passons maintenant au code</a:t>
            </a:r>
            <a:endParaRPr lang="fr-FR" dirty="0"/>
          </a:p>
        </p:txBody>
      </p:sp>
      <p:sp>
        <p:nvSpPr>
          <p:cNvPr id="4" name="Slide Number Placeholder 3"/>
          <p:cNvSpPr>
            <a:spLocks noGrp="1"/>
          </p:cNvSpPr>
          <p:nvPr>
            <p:ph type="sldNum" sz="quarter" idx="5"/>
          </p:nvPr>
        </p:nvSpPr>
        <p:spPr/>
        <p:txBody>
          <a:bodyPr/>
          <a:lstStyle/>
          <a:p>
            <a:fld id="{A5E37440-E792-4C0F-9E87-0CC1D361B8DB}" type="slidenum">
              <a:rPr lang="en-US" smtClean="0"/>
              <a:t>4</a:t>
            </a:fld>
            <a:endParaRPr lang="en-US"/>
          </a:p>
        </p:txBody>
      </p:sp>
    </p:spTree>
    <p:extLst>
      <p:ext uri="{BB962C8B-B14F-4D97-AF65-F5344CB8AC3E}">
        <p14:creationId xmlns:p14="http://schemas.microsoft.com/office/powerpoint/2010/main" val="3654758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Il me fallait trouver une solution plus fiable. J’ai demande l’aide a mes </a:t>
            </a:r>
            <a:r>
              <a:rPr lang="fr-FR" dirty="0" err="1"/>
              <a:t>collegues</a:t>
            </a:r>
            <a:r>
              <a:rPr lang="fr-FR" dirty="0"/>
              <a:t>.</a:t>
            </a:r>
            <a:endParaRPr lang="en-US" dirty="0"/>
          </a:p>
        </p:txBody>
      </p:sp>
      <p:sp>
        <p:nvSpPr>
          <p:cNvPr id="4" name="Slide Number Placeholder 3"/>
          <p:cNvSpPr>
            <a:spLocks noGrp="1"/>
          </p:cNvSpPr>
          <p:nvPr>
            <p:ph type="sldNum" sz="quarter" idx="5"/>
          </p:nvPr>
        </p:nvSpPr>
        <p:spPr/>
        <p:txBody>
          <a:bodyPr/>
          <a:lstStyle/>
          <a:p>
            <a:fld id="{A5E37440-E792-4C0F-9E87-0CC1D361B8DB}" type="slidenum">
              <a:rPr lang="en-US" smtClean="0"/>
              <a:t>6</a:t>
            </a:fld>
            <a:endParaRPr lang="en-US"/>
          </a:p>
        </p:txBody>
      </p:sp>
    </p:spTree>
    <p:extLst>
      <p:ext uri="{BB962C8B-B14F-4D97-AF65-F5344CB8AC3E}">
        <p14:creationId xmlns:p14="http://schemas.microsoft.com/office/powerpoint/2010/main" val="3115938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750"/>
              </a:spcAft>
              <a:buNone/>
            </a:pPr>
            <a:r>
              <a:rPr lang="fr-FR" b="0" i="0" dirty="0">
                <a:solidFill>
                  <a:srgbClr val="424242"/>
                </a:solidFill>
                <a:effectLst/>
                <a:latin typeface="Segoe Sans"/>
              </a:rPr>
              <a:t>Je ne connais pas, donc je regarde la documentation et écris quelques tests pour apprendre comment ça marche.</a:t>
            </a:r>
          </a:p>
          <a:p>
            <a:pPr algn="l">
              <a:spcBef>
                <a:spcPts val="450"/>
              </a:spcBef>
              <a:spcAft>
                <a:spcPts val="750"/>
              </a:spcAft>
              <a:buNone/>
            </a:pPr>
            <a:r>
              <a:rPr lang="fr-FR" b="0" i="0" dirty="0">
                <a:solidFill>
                  <a:srgbClr val="424242"/>
                </a:solidFill>
                <a:effectLst/>
                <a:latin typeface="Segoe Sans"/>
              </a:rPr>
              <a:t>Un </a:t>
            </a:r>
            <a:r>
              <a:rPr lang="fr-FR" b="0" i="0" dirty="0" err="1">
                <a:solidFill>
                  <a:srgbClr val="424242"/>
                </a:solidFill>
                <a:effectLst/>
                <a:latin typeface="Segoe Sans"/>
              </a:rPr>
              <a:t>CompletableFuture</a:t>
            </a:r>
            <a:r>
              <a:rPr lang="fr-FR" b="0" i="0" dirty="0">
                <a:solidFill>
                  <a:srgbClr val="424242"/>
                </a:solidFill>
                <a:effectLst/>
                <a:latin typeface="Segoe Sans"/>
              </a:rPr>
              <a:t>, c’est comme un conteneur dont la valeur sera disponible pour nous dans le futur. </a:t>
            </a:r>
          </a:p>
          <a:p>
            <a:pPr algn="l">
              <a:spcBef>
                <a:spcPts val="450"/>
              </a:spcBef>
              <a:spcAft>
                <a:spcPts val="750"/>
              </a:spcAft>
              <a:buNone/>
            </a:pPr>
            <a:r>
              <a:rPr lang="fr-FR" b="0" i="0" dirty="0">
                <a:solidFill>
                  <a:srgbClr val="424242"/>
                </a:solidFill>
                <a:effectLst/>
                <a:latin typeface="Segoe Sans"/>
              </a:rPr>
              <a:t>Il fournit la méthode </a:t>
            </a:r>
            <a:r>
              <a:rPr lang="fr-FR" b="0" i="0" dirty="0" err="1">
                <a:solidFill>
                  <a:srgbClr val="424242"/>
                </a:solidFill>
                <a:effectLst/>
                <a:latin typeface="Segoe Sans"/>
              </a:rPr>
              <a:t>isDone</a:t>
            </a:r>
            <a:r>
              <a:rPr lang="fr-FR" b="0" i="0" dirty="0">
                <a:solidFill>
                  <a:srgbClr val="424242"/>
                </a:solidFill>
                <a:effectLst/>
                <a:latin typeface="Segoe Sans"/>
              </a:rPr>
              <a:t>() pour vérifier si la valeur est disponible, et la méthode </a:t>
            </a:r>
            <a:r>
              <a:rPr lang="fr-FR" b="0" i="0" dirty="0" err="1">
                <a:solidFill>
                  <a:srgbClr val="424242"/>
                </a:solidFill>
                <a:effectLst/>
                <a:latin typeface="Segoe Sans"/>
              </a:rPr>
              <a:t>join</a:t>
            </a:r>
            <a:r>
              <a:rPr lang="fr-FR" b="0" i="0" dirty="0">
                <a:solidFill>
                  <a:srgbClr val="424242"/>
                </a:solidFill>
                <a:effectLst/>
                <a:latin typeface="Segoe Sans"/>
              </a:rPr>
              <a:t>() pour récupérer la valeur. Il va bloquer le thread jusqu'à ce que la valeur soit disponible. On peut aussi compléter un </a:t>
            </a:r>
            <a:r>
              <a:rPr lang="fr-FR" b="0" i="0" dirty="0" err="1">
                <a:solidFill>
                  <a:srgbClr val="424242"/>
                </a:solidFill>
                <a:effectLst/>
                <a:latin typeface="Segoe Sans"/>
              </a:rPr>
              <a:t>CompletableFuture</a:t>
            </a:r>
            <a:r>
              <a:rPr lang="fr-FR" b="0" i="0" dirty="0">
                <a:solidFill>
                  <a:srgbClr val="424242"/>
                </a:solidFill>
                <a:effectLst/>
                <a:latin typeface="Segoe Sans"/>
              </a:rPr>
              <a:t> à la main avec </a:t>
            </a:r>
            <a:r>
              <a:rPr lang="fr-FR" b="0" i="0" dirty="0" err="1">
                <a:solidFill>
                  <a:srgbClr val="424242"/>
                </a:solidFill>
                <a:effectLst/>
                <a:latin typeface="Segoe Sans"/>
              </a:rPr>
              <a:t>complete</a:t>
            </a:r>
            <a:r>
              <a:rPr lang="fr-FR" b="0" i="0" dirty="0">
                <a:solidFill>
                  <a:srgbClr val="424242"/>
                </a:solidFill>
                <a:effectLst/>
                <a:latin typeface="Segoe Sans"/>
              </a:rPr>
              <a:t>().</a:t>
            </a:r>
          </a:p>
          <a:p>
            <a:pPr algn="l">
              <a:spcBef>
                <a:spcPts val="450"/>
              </a:spcBef>
              <a:spcAft>
                <a:spcPts val="750"/>
              </a:spcAft>
              <a:buNone/>
            </a:pPr>
            <a:r>
              <a:rPr lang="fr-FR" b="0" i="0" dirty="0" err="1">
                <a:solidFill>
                  <a:srgbClr val="424242"/>
                </a:solidFill>
                <a:effectLst/>
                <a:latin typeface="Segoe Sans"/>
              </a:rPr>
              <a:t>CompletableFuture.supplyAsync</a:t>
            </a:r>
            <a:r>
              <a:rPr lang="fr-FR" b="0" i="0" dirty="0">
                <a:solidFill>
                  <a:srgbClr val="424242"/>
                </a:solidFill>
                <a:effectLst/>
                <a:latin typeface="Segoe Sans"/>
              </a:rPr>
              <a:t>() et </a:t>
            </a:r>
            <a:r>
              <a:rPr lang="fr-FR" b="0" i="0" dirty="0" err="1">
                <a:solidFill>
                  <a:srgbClr val="424242"/>
                </a:solidFill>
                <a:effectLst/>
                <a:latin typeface="Segoe Sans"/>
              </a:rPr>
              <a:t>runAsync</a:t>
            </a:r>
            <a:r>
              <a:rPr lang="fr-FR" b="0" i="0" dirty="0">
                <a:solidFill>
                  <a:srgbClr val="424242"/>
                </a:solidFill>
                <a:effectLst/>
                <a:latin typeface="Segoe Sans"/>
              </a:rPr>
              <a:t> permet de lancer une tâche en parallèle et de retourner un </a:t>
            </a:r>
            <a:r>
              <a:rPr lang="fr-FR" b="0" i="0" dirty="0" err="1">
                <a:solidFill>
                  <a:srgbClr val="424242"/>
                </a:solidFill>
                <a:effectLst/>
                <a:latin typeface="Segoe Sans"/>
              </a:rPr>
              <a:t>CompletableFuture</a:t>
            </a:r>
            <a:r>
              <a:rPr lang="fr-FR" b="0" i="0" dirty="0">
                <a:solidFill>
                  <a:srgbClr val="424242"/>
                </a:solidFill>
                <a:effectLst/>
                <a:latin typeface="Segoe Sans"/>
              </a:rPr>
              <a:t> qui contiendra le résultat une fois la tâche terminée. Vous pouvez chaîner plusieurs opérations asynchrones ensemble. Par exemple, </a:t>
            </a:r>
            <a:r>
              <a:rPr lang="fr-FR" b="0" i="0" dirty="0" err="1">
                <a:solidFill>
                  <a:srgbClr val="424242"/>
                </a:solidFill>
                <a:effectLst/>
                <a:latin typeface="Segoe Sans"/>
              </a:rPr>
              <a:t>thenApply</a:t>
            </a:r>
            <a:r>
              <a:rPr lang="fr-FR" b="0" i="0" dirty="0">
                <a:solidFill>
                  <a:srgbClr val="424242"/>
                </a:solidFill>
                <a:effectLst/>
                <a:latin typeface="Segoe Sans"/>
              </a:rPr>
              <a:t>() permet de spécifier une fonction à exécuter une fois que le </a:t>
            </a:r>
            <a:r>
              <a:rPr lang="fr-FR" b="0" i="0" dirty="0" err="1">
                <a:solidFill>
                  <a:srgbClr val="424242"/>
                </a:solidFill>
                <a:effectLst/>
                <a:latin typeface="Segoe Sans"/>
              </a:rPr>
              <a:t>CompletableFuture</a:t>
            </a:r>
            <a:r>
              <a:rPr lang="fr-FR" b="0" i="0" dirty="0">
                <a:solidFill>
                  <a:srgbClr val="424242"/>
                </a:solidFill>
                <a:effectLst/>
                <a:latin typeface="Segoe Sans"/>
              </a:rPr>
              <a:t> est complété.</a:t>
            </a:r>
          </a:p>
          <a:p>
            <a:pPr algn="l">
              <a:spcBef>
                <a:spcPts val="450"/>
              </a:spcBef>
              <a:spcAft>
                <a:spcPts val="750"/>
              </a:spcAft>
            </a:pPr>
            <a:r>
              <a:rPr lang="fr-FR" b="0" i="0" dirty="0">
                <a:solidFill>
                  <a:srgbClr val="424242"/>
                </a:solidFill>
                <a:effectLst/>
                <a:latin typeface="Segoe Sans"/>
              </a:rPr>
              <a:t>On peut capturer les exceptions grâce à </a:t>
            </a:r>
            <a:r>
              <a:rPr lang="fr-FR" b="0" i="0" dirty="0" err="1">
                <a:solidFill>
                  <a:srgbClr val="424242"/>
                </a:solidFill>
                <a:effectLst/>
                <a:latin typeface="Segoe Sans"/>
              </a:rPr>
              <a:t>exceptionally</a:t>
            </a:r>
            <a:r>
              <a:rPr lang="fr-FR" b="0" i="0" dirty="0">
                <a:solidFill>
                  <a:srgbClr val="424242"/>
                </a:solidFill>
                <a:effectLst/>
                <a:latin typeface="Segoe Sans"/>
              </a:rPr>
              <a:t>(). C’est pratique pour éviter que tout plante si une tâche échoue.</a:t>
            </a:r>
          </a:p>
          <a:p>
            <a:pPr algn="l">
              <a:spcBef>
                <a:spcPts val="450"/>
              </a:spcBef>
              <a:spcAft>
                <a:spcPts val="750"/>
              </a:spcAft>
            </a:pPr>
            <a:endParaRPr lang="fr-FR" b="0" i="0" dirty="0">
              <a:solidFill>
                <a:srgbClr val="424242"/>
              </a:solidFill>
              <a:effectLst/>
              <a:latin typeface="Segoe Sans"/>
            </a:endParaRPr>
          </a:p>
          <a:p>
            <a:pPr algn="l">
              <a:spcBef>
                <a:spcPts val="450"/>
              </a:spcBef>
              <a:spcAft>
                <a:spcPts val="750"/>
              </a:spcAft>
            </a:pPr>
            <a:r>
              <a:rPr lang="fr-FR" b="0" i="0" dirty="0">
                <a:solidFill>
                  <a:srgbClr val="424242"/>
                </a:solidFill>
                <a:effectLst/>
                <a:latin typeface="Segoe Sans"/>
              </a:rPr>
              <a:t>C’est quand mem un outil un peut complexe, n’y a-t-il pas une solution plus simple ?</a:t>
            </a:r>
          </a:p>
        </p:txBody>
      </p:sp>
      <p:sp>
        <p:nvSpPr>
          <p:cNvPr id="4" name="Slide Number Placeholder 3"/>
          <p:cNvSpPr>
            <a:spLocks noGrp="1"/>
          </p:cNvSpPr>
          <p:nvPr>
            <p:ph type="sldNum" sz="quarter" idx="5"/>
          </p:nvPr>
        </p:nvSpPr>
        <p:spPr/>
        <p:txBody>
          <a:bodyPr/>
          <a:lstStyle/>
          <a:p>
            <a:fld id="{A5E37440-E792-4C0F-9E87-0CC1D361B8DB}" type="slidenum">
              <a:rPr lang="en-US" smtClean="0"/>
              <a:t>7</a:t>
            </a:fld>
            <a:endParaRPr lang="en-US"/>
          </a:p>
        </p:txBody>
      </p:sp>
    </p:spTree>
    <p:extLst>
      <p:ext uri="{BB962C8B-B14F-4D97-AF65-F5344CB8AC3E}">
        <p14:creationId xmlns:p14="http://schemas.microsoft.com/office/powerpoint/2010/main" val="2763366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concept de </a:t>
            </a:r>
            <a:r>
              <a:rPr lang="fr-FR" b="1" dirty="0" err="1"/>
              <a:t>CountDownLatch</a:t>
            </a:r>
            <a:r>
              <a:rPr lang="fr-FR" dirty="0"/>
              <a:t> est très simple. Imaginez-le comme une porte qui est initialement fermée et qui peut être ouverte. Lorsque la porte est ouverte, tous les threads peuvent passe. Cependant, lorsqu'elle est fermée, tous les threads doivent attendre.</a:t>
            </a:r>
            <a:br>
              <a:rPr lang="fr-FR" dirty="0"/>
            </a:br>
            <a:r>
              <a:rPr lang="fr-FR" dirty="0"/>
              <a:t>Le </a:t>
            </a:r>
            <a:r>
              <a:rPr lang="fr-FR" b="1" dirty="0" err="1"/>
              <a:t>CountDownLatch</a:t>
            </a:r>
            <a:r>
              <a:rPr lang="fr-FR" dirty="0"/>
              <a:t> fonctionne avec un compteur. Ce compteur diminue à chaque fois que nous appelons la méthode </a:t>
            </a:r>
            <a:r>
              <a:rPr lang="fr-FR" b="1" dirty="0" err="1"/>
              <a:t>countDown</a:t>
            </a:r>
            <a:r>
              <a:rPr lang="fr-FR" dirty="0"/>
              <a:t>. Lorsqu'il atteint zéro, la porte s'ouvre et il ne peut pas refermer.</a:t>
            </a:r>
            <a:br>
              <a:rPr lang="fr-FR" dirty="0"/>
            </a:br>
            <a:r>
              <a:rPr lang="fr-FR" dirty="0"/>
              <a:t>Ce concept est particulièrement utile lors du démarrage d'une application. Au démarrage, plusieurs ressources doivent être initialisées dans différents threads. Une fois ces initialisations terminées, les threads principaux de l'application peuvent démarrer.</a:t>
            </a:r>
          </a:p>
          <a:p>
            <a:r>
              <a:rPr lang="fr-FR" dirty="0"/>
              <a:t>coordonner plusieurs tâches avant de lancer un événement</a:t>
            </a:r>
            <a:endParaRPr lang="en-US" dirty="0"/>
          </a:p>
          <a:p>
            <a:endParaRPr lang="fr-FR" dirty="0"/>
          </a:p>
        </p:txBody>
      </p:sp>
      <p:sp>
        <p:nvSpPr>
          <p:cNvPr id="4" name="Slide Number Placeholder 3"/>
          <p:cNvSpPr>
            <a:spLocks noGrp="1"/>
          </p:cNvSpPr>
          <p:nvPr>
            <p:ph type="sldNum" sz="quarter" idx="5"/>
          </p:nvPr>
        </p:nvSpPr>
        <p:spPr/>
        <p:txBody>
          <a:bodyPr/>
          <a:lstStyle/>
          <a:p>
            <a:fld id="{A5E37440-E792-4C0F-9E87-0CC1D361B8DB}" type="slidenum">
              <a:rPr lang="en-US" smtClean="0"/>
              <a:t>8</a:t>
            </a:fld>
            <a:endParaRPr lang="en-US"/>
          </a:p>
        </p:txBody>
      </p:sp>
    </p:spTree>
    <p:extLst>
      <p:ext uri="{BB962C8B-B14F-4D97-AF65-F5344CB8AC3E}">
        <p14:creationId xmlns:p14="http://schemas.microsoft.com/office/powerpoint/2010/main" val="85668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Je suis content et montre à mes collègues pour une revue de code. Lors de la revue de code, un collègue m'a demandé :</a:t>
            </a:r>
          </a:p>
        </p:txBody>
      </p:sp>
      <p:sp>
        <p:nvSpPr>
          <p:cNvPr id="4" name="Slide Number Placeholder 3"/>
          <p:cNvSpPr>
            <a:spLocks noGrp="1"/>
          </p:cNvSpPr>
          <p:nvPr>
            <p:ph type="sldNum" sz="quarter" idx="5"/>
          </p:nvPr>
        </p:nvSpPr>
        <p:spPr/>
        <p:txBody>
          <a:bodyPr/>
          <a:lstStyle/>
          <a:p>
            <a:fld id="{A5E37440-E792-4C0F-9E87-0CC1D361B8DB}" type="slidenum">
              <a:rPr lang="en-US" smtClean="0"/>
              <a:t>9</a:t>
            </a:fld>
            <a:endParaRPr lang="en-US"/>
          </a:p>
        </p:txBody>
      </p:sp>
    </p:spTree>
    <p:extLst>
      <p:ext uri="{BB962C8B-B14F-4D97-AF65-F5344CB8AC3E}">
        <p14:creationId xmlns:p14="http://schemas.microsoft.com/office/powerpoint/2010/main" val="5379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Eviter</a:t>
            </a:r>
            <a:r>
              <a:rPr lang="en-US" dirty="0"/>
              <a:t> les sleep, car </a:t>
            </a:r>
            <a:r>
              <a:rPr lang="en-US" dirty="0" err="1"/>
              <a:t>ils</a:t>
            </a:r>
            <a:r>
              <a:rPr lang="en-US" dirty="0"/>
              <a:t> </a:t>
            </a:r>
            <a:r>
              <a:rPr lang="en-US" dirty="0" err="1"/>
              <a:t>rendent</a:t>
            </a:r>
            <a:r>
              <a:rPr lang="en-US" dirty="0"/>
              <a:t> les tests </a:t>
            </a:r>
            <a:r>
              <a:rPr lang="en-US" dirty="0" err="1"/>
              <a:t>instables</a:t>
            </a:r>
            <a:endParaRPr lang="en-US" dirty="0"/>
          </a:p>
          <a:p>
            <a:r>
              <a:rPr lang="en-US" dirty="0" err="1"/>
              <a:t>Utiliser</a:t>
            </a:r>
            <a:r>
              <a:rPr lang="en-US" dirty="0"/>
              <a:t> des </a:t>
            </a:r>
            <a:r>
              <a:rPr lang="en-US" dirty="0" err="1"/>
              <a:t>outils</a:t>
            </a:r>
            <a:r>
              <a:rPr lang="en-US" dirty="0"/>
              <a:t> de synchronization pour </a:t>
            </a:r>
            <a:r>
              <a:rPr lang="en-US" dirty="0" err="1"/>
              <a:t>fiabiliser</a:t>
            </a:r>
            <a:r>
              <a:rPr lang="en-US" dirty="0"/>
              <a:t> les tests</a:t>
            </a:r>
          </a:p>
          <a:p>
            <a:r>
              <a:rPr lang="en-US" dirty="0"/>
              <a:t>Injecter les dependances pour render le code testable </a:t>
            </a:r>
            <a:r>
              <a:rPr lang="en-US" dirty="0" err="1"/>
              <a:t>facilement</a:t>
            </a:r>
            <a:endParaRPr lang="en-US" dirty="0"/>
          </a:p>
          <a:p>
            <a:endParaRPr lang="en-US" dirty="0"/>
          </a:p>
        </p:txBody>
      </p:sp>
      <p:sp>
        <p:nvSpPr>
          <p:cNvPr id="4" name="Slide Number Placeholder 3"/>
          <p:cNvSpPr>
            <a:spLocks noGrp="1"/>
          </p:cNvSpPr>
          <p:nvPr>
            <p:ph type="sldNum" sz="quarter" idx="5"/>
          </p:nvPr>
        </p:nvSpPr>
        <p:spPr/>
        <p:txBody>
          <a:bodyPr/>
          <a:lstStyle/>
          <a:p>
            <a:fld id="{A5E37440-E792-4C0F-9E87-0CC1D361B8DB}" type="slidenum">
              <a:rPr lang="en-US" smtClean="0"/>
              <a:t>10</a:t>
            </a:fld>
            <a:endParaRPr lang="en-US"/>
          </a:p>
        </p:txBody>
      </p:sp>
    </p:spTree>
    <p:extLst>
      <p:ext uri="{BB962C8B-B14F-4D97-AF65-F5344CB8AC3E}">
        <p14:creationId xmlns:p14="http://schemas.microsoft.com/office/powerpoint/2010/main" val="4294929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a:t>
            </a:r>
            <a:r>
              <a:rPr lang="en-US" dirty="0" err="1"/>
              <a:t>votre</a:t>
            </a:r>
            <a:r>
              <a:rPr lang="en-US" dirty="0"/>
              <a:t> attention, </a:t>
            </a:r>
            <a:r>
              <a:rPr lang="en-US" dirty="0" err="1"/>
              <a:t>est-ce</a:t>
            </a:r>
            <a:r>
              <a:rPr lang="en-US" dirty="0"/>
              <a:t> </a:t>
            </a:r>
            <a:r>
              <a:rPr lang="en-US" dirty="0" err="1"/>
              <a:t>qu</a:t>
            </a:r>
            <a:r>
              <a:rPr lang="en-US" dirty="0"/>
              <a:t> </a:t>
            </a:r>
            <a:r>
              <a:rPr lang="en-US" dirty="0" err="1"/>
              <a:t>vous</a:t>
            </a:r>
            <a:r>
              <a:rPr lang="en-US" dirty="0"/>
              <a:t> </a:t>
            </a:r>
            <a:r>
              <a:rPr lang="en-US" dirty="0" err="1"/>
              <a:t>avez</a:t>
            </a:r>
            <a:r>
              <a:rPr lang="en-US" dirty="0"/>
              <a:t> des questions</a:t>
            </a:r>
          </a:p>
        </p:txBody>
      </p:sp>
      <p:sp>
        <p:nvSpPr>
          <p:cNvPr id="4" name="Slide Number Placeholder 3"/>
          <p:cNvSpPr>
            <a:spLocks noGrp="1"/>
          </p:cNvSpPr>
          <p:nvPr>
            <p:ph type="sldNum" sz="quarter" idx="5"/>
          </p:nvPr>
        </p:nvSpPr>
        <p:spPr/>
        <p:txBody>
          <a:bodyPr/>
          <a:lstStyle/>
          <a:p>
            <a:fld id="{A5E37440-E792-4C0F-9E87-0CC1D361B8DB}" type="slidenum">
              <a:rPr lang="en-US" smtClean="0"/>
              <a:t>11</a:t>
            </a:fld>
            <a:endParaRPr lang="en-US"/>
          </a:p>
        </p:txBody>
      </p:sp>
    </p:spTree>
    <p:extLst>
      <p:ext uri="{BB962C8B-B14F-4D97-AF65-F5344CB8AC3E}">
        <p14:creationId xmlns:p14="http://schemas.microsoft.com/office/powerpoint/2010/main" val="265937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593A1-9D3D-2833-253A-BE977E7BDC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78ED07-0AE2-0674-BDF6-622A006710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DEABB7-5629-ED66-0753-6BD28BA2A7C4}"/>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5" name="Footer Placeholder 4">
            <a:extLst>
              <a:ext uri="{FF2B5EF4-FFF2-40B4-BE49-F238E27FC236}">
                <a16:creationId xmlns:a16="http://schemas.microsoft.com/office/drawing/2014/main" id="{42BD6A19-E411-5A69-CC79-21E076152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F3F81C-91F7-3884-7C42-0A0BE7D2F6C3}"/>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3723483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0309-E6C9-CA73-E110-05CCC4D0A2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0656DD-D5FE-CDC2-7123-37A58352B7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16657-F2C6-3517-8A0C-EAD815ED099A}"/>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5" name="Footer Placeholder 4">
            <a:extLst>
              <a:ext uri="{FF2B5EF4-FFF2-40B4-BE49-F238E27FC236}">
                <a16:creationId xmlns:a16="http://schemas.microsoft.com/office/drawing/2014/main" id="{C942BF5D-B006-365E-ECF8-1B145C108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05704-01A9-A6A1-A17E-A2FF699927E6}"/>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1419533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72554-4A17-638C-0ED2-F4B77D4BA4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02A441-24B9-984E-3691-3A89308B11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95AAA0-020D-81DE-21ED-39403948B8E2}"/>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5" name="Footer Placeholder 4">
            <a:extLst>
              <a:ext uri="{FF2B5EF4-FFF2-40B4-BE49-F238E27FC236}">
                <a16:creationId xmlns:a16="http://schemas.microsoft.com/office/drawing/2014/main" id="{8FE0B23F-0354-5809-C02F-E6C510EE2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F9162E-E4B2-2B67-AE1C-47D31FF30900}"/>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4114308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57E7D-97D1-A2A0-7818-06C2B06E8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6C8EC4-7CC0-642A-9052-8ED648793D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3B8C04-4D5F-8190-DE43-C797210CB1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274319-712A-2CD3-B6EC-7051D6D28CED}"/>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6" name="Footer Placeholder 5">
            <a:extLst>
              <a:ext uri="{FF2B5EF4-FFF2-40B4-BE49-F238E27FC236}">
                <a16:creationId xmlns:a16="http://schemas.microsoft.com/office/drawing/2014/main" id="{3D8334B2-A25D-10EF-A4AA-273B03790E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A495C-C1DD-5EC1-6739-AC01E1E228E1}"/>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302428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EB599-4642-0ED1-C649-98841F7649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6081AA-3CC1-568C-A3CF-A42C3E7BFE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8878C9-1D2A-744B-3854-405B4A8C6A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334A86-D5DF-A45B-2315-F1F87493D4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F132B2-8A62-17A3-C9A2-E8A3B29FF4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934767-451E-A448-EC43-9CEC2691A5F3}"/>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8" name="Footer Placeholder 7">
            <a:extLst>
              <a:ext uri="{FF2B5EF4-FFF2-40B4-BE49-F238E27FC236}">
                <a16:creationId xmlns:a16="http://schemas.microsoft.com/office/drawing/2014/main" id="{681C6728-D3C0-1CCB-7C7C-E537C81895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E36605-B7C2-7E40-D859-BDE59E2D352E}"/>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329416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E1C5A-AE67-755C-F129-F4A8619E69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0F4250-357F-AB9A-11FD-161CD4D2A979}"/>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4" name="Footer Placeholder 3">
            <a:extLst>
              <a:ext uri="{FF2B5EF4-FFF2-40B4-BE49-F238E27FC236}">
                <a16:creationId xmlns:a16="http://schemas.microsoft.com/office/drawing/2014/main" id="{DA6B5842-F63A-1EDB-3A9B-F7466B90F2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EE211C-EA8A-34F4-4B5B-7AAFAF28A9FE}"/>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2573406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9FE768-7E98-BF23-D367-ED06DFD88174}"/>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3" name="Footer Placeholder 2">
            <a:extLst>
              <a:ext uri="{FF2B5EF4-FFF2-40B4-BE49-F238E27FC236}">
                <a16:creationId xmlns:a16="http://schemas.microsoft.com/office/drawing/2014/main" id="{FE15FBBA-5EE7-F628-D4A8-40814C3363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310FD1-C7F6-76FE-768C-E845522338C4}"/>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476780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6F2B-A4B3-65C6-71D0-55BB052F3C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0E0F41-02B2-EE8A-008A-74BD62608C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334C35-07DC-3F6F-52BD-8167451D5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7F3064-304A-5537-E185-141A03C0C0DC}"/>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6" name="Footer Placeholder 5">
            <a:extLst>
              <a:ext uri="{FF2B5EF4-FFF2-40B4-BE49-F238E27FC236}">
                <a16:creationId xmlns:a16="http://schemas.microsoft.com/office/drawing/2014/main" id="{05CF32F7-D9EE-F83C-62F8-10F428B68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2FD05-9DAE-09A5-B8EE-D7B7E73047D9}"/>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4025499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F561-B7F6-D83E-18DC-2B3E283CC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656D90-6B6A-8055-ACA3-110BEB9A3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BB4321-A494-3FDA-DA9E-37629A3CFA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00FF35-472D-2FE4-5845-7B64A107F070}"/>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6" name="Footer Placeholder 5">
            <a:extLst>
              <a:ext uri="{FF2B5EF4-FFF2-40B4-BE49-F238E27FC236}">
                <a16:creationId xmlns:a16="http://schemas.microsoft.com/office/drawing/2014/main" id="{77ED6B2D-2015-D570-B81C-6AD9E494D5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F2CF74-4733-51A9-87FE-5349C776B992}"/>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3523347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1AFEB-72F1-3D7B-68DE-92EE267B79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5F48AB-9A33-C3B0-B851-DF95F9075D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34F88-DD84-D22E-88A7-BA34A20B67EE}"/>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5" name="Footer Placeholder 4">
            <a:extLst>
              <a:ext uri="{FF2B5EF4-FFF2-40B4-BE49-F238E27FC236}">
                <a16:creationId xmlns:a16="http://schemas.microsoft.com/office/drawing/2014/main" id="{BFF0B074-1410-E615-922F-00691B108C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3B2F6-B715-5AC3-0790-00D9466AD400}"/>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32170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37E2B-0C8E-C797-046A-8A510C2ECA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6B87A0-D0E2-F2D2-5B12-DD8A8A08D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660EE-FE07-E1A0-24FF-2DCAD4591191}"/>
              </a:ext>
            </a:extLst>
          </p:cNvPr>
          <p:cNvSpPr>
            <a:spLocks noGrp="1"/>
          </p:cNvSpPr>
          <p:nvPr>
            <p:ph type="dt" sz="half" idx="10"/>
          </p:nvPr>
        </p:nvSpPr>
        <p:spPr/>
        <p:txBody>
          <a:bodyPr/>
          <a:lstStyle/>
          <a:p>
            <a:fld id="{58551476-D84D-4606-9E60-E11DC6FEDE3D}" type="datetimeFigureOut">
              <a:rPr lang="en-US" smtClean="0"/>
              <a:t>4/14/2025</a:t>
            </a:fld>
            <a:endParaRPr lang="en-US"/>
          </a:p>
        </p:txBody>
      </p:sp>
      <p:sp>
        <p:nvSpPr>
          <p:cNvPr id="5" name="Footer Placeholder 4">
            <a:extLst>
              <a:ext uri="{FF2B5EF4-FFF2-40B4-BE49-F238E27FC236}">
                <a16:creationId xmlns:a16="http://schemas.microsoft.com/office/drawing/2014/main" id="{53304605-BD85-7A1E-717D-3469EB38A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A7FD77-78F4-13A1-3FE6-31F895F05338}"/>
              </a:ext>
            </a:extLst>
          </p:cNvPr>
          <p:cNvSpPr>
            <a:spLocks noGrp="1"/>
          </p:cNvSpPr>
          <p:nvPr>
            <p:ph type="sldNum" sz="quarter" idx="12"/>
          </p:nvPr>
        </p:nvSpPr>
        <p:spPr/>
        <p:txBody>
          <a:bodyPr/>
          <a:lstStyle/>
          <a:p>
            <a:fld id="{99DCC2AE-2C32-4282-A4DC-19E54E209BA1}" type="slidenum">
              <a:rPr lang="en-US" smtClean="0"/>
              <a:t>‹#›</a:t>
            </a:fld>
            <a:endParaRPr lang="en-US"/>
          </a:p>
        </p:txBody>
      </p:sp>
    </p:spTree>
    <p:extLst>
      <p:ext uri="{BB962C8B-B14F-4D97-AF65-F5344CB8AC3E}">
        <p14:creationId xmlns:p14="http://schemas.microsoft.com/office/powerpoint/2010/main" val="3004879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0B3FD-0B4D-A0F0-0851-E4092449E0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52DC53-50B5-4EDF-B359-7AE5F875E7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88C330-AC7C-D66C-1716-5B60572A7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551476-D84D-4606-9E60-E11DC6FEDE3D}" type="datetimeFigureOut">
              <a:rPr lang="en-US" smtClean="0"/>
              <a:t>4/14/2025</a:t>
            </a:fld>
            <a:endParaRPr lang="en-US"/>
          </a:p>
        </p:txBody>
      </p:sp>
      <p:sp>
        <p:nvSpPr>
          <p:cNvPr id="5" name="Footer Placeholder 4">
            <a:extLst>
              <a:ext uri="{FF2B5EF4-FFF2-40B4-BE49-F238E27FC236}">
                <a16:creationId xmlns:a16="http://schemas.microsoft.com/office/drawing/2014/main" id="{4D0C287A-7E47-C519-638A-A9AE488BF1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0CA4001-F339-3CFB-B74E-A2F9E2DBD6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DCC2AE-2C32-4282-A4DC-19E54E209BA1}" type="slidenum">
              <a:rPr lang="en-US" smtClean="0"/>
              <a:t>‹#›</a:t>
            </a:fld>
            <a:endParaRPr lang="en-US"/>
          </a:p>
        </p:txBody>
      </p:sp>
    </p:spTree>
    <p:extLst>
      <p:ext uri="{BB962C8B-B14F-4D97-AF65-F5344CB8AC3E}">
        <p14:creationId xmlns:p14="http://schemas.microsoft.com/office/powerpoint/2010/main" val="1497556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ocs.oracle.com/javase/8/docs/api/java/util/concurrent/CompletableFuture.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docs.oracle.com/javase/8/docs/api/java/util/concurrent/CountDownLatch.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D3791-2344-081B-5467-E8F9BCDAEE48}"/>
              </a:ext>
            </a:extLst>
          </p:cNvPr>
          <p:cNvSpPr>
            <a:spLocks noGrp="1"/>
          </p:cNvSpPr>
          <p:nvPr>
            <p:ph type="ctrTitle"/>
          </p:nvPr>
        </p:nvSpPr>
        <p:spPr/>
        <p:txBody>
          <a:bodyPr/>
          <a:lstStyle/>
          <a:p>
            <a:endParaRPr lang="fr-FR" noProof="0" dirty="0"/>
          </a:p>
        </p:txBody>
      </p:sp>
      <p:sp>
        <p:nvSpPr>
          <p:cNvPr id="3" name="Subtitle 2">
            <a:extLst>
              <a:ext uri="{FF2B5EF4-FFF2-40B4-BE49-F238E27FC236}">
                <a16:creationId xmlns:a16="http://schemas.microsoft.com/office/drawing/2014/main" id="{AD038B40-D727-006E-BFC0-A38220A176AA}"/>
              </a:ext>
            </a:extLst>
          </p:cNvPr>
          <p:cNvSpPr>
            <a:spLocks noGrp="1"/>
          </p:cNvSpPr>
          <p:nvPr>
            <p:ph type="subTitle" idx="1"/>
          </p:nvPr>
        </p:nvSpPr>
        <p:spPr/>
        <p:txBody>
          <a:bodyPr/>
          <a:lstStyle/>
          <a:p>
            <a:endParaRPr lang="fr-FR" noProof="0" dirty="0"/>
          </a:p>
        </p:txBody>
      </p:sp>
      <p:pic>
        <p:nvPicPr>
          <p:cNvPr id="6" name="Picture 5">
            <a:extLst>
              <a:ext uri="{FF2B5EF4-FFF2-40B4-BE49-F238E27FC236}">
                <a16:creationId xmlns:a16="http://schemas.microsoft.com/office/drawing/2014/main" id="{F84FCBAA-7F45-406E-CA31-BE56DC0B93D3}"/>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175509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B18A6-6ACB-666A-A756-0AE5F1C8DB28}"/>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45D896D2-A227-758F-1DFB-052B0C2004EC}"/>
              </a:ext>
            </a:extLst>
          </p:cNvPr>
          <p:cNvSpPr>
            <a:spLocks noGrp="1"/>
          </p:cNvSpPr>
          <p:nvPr>
            <p:ph idx="1"/>
          </p:nvPr>
        </p:nvSpPr>
        <p:spPr/>
        <p:txBody>
          <a:bodyPr/>
          <a:lstStyle/>
          <a:p>
            <a:endParaRPr lang="fr-FR" noProof="0" dirty="0"/>
          </a:p>
        </p:txBody>
      </p:sp>
      <p:pic>
        <p:nvPicPr>
          <p:cNvPr id="5" name="Picture 4">
            <a:extLst>
              <a:ext uri="{FF2B5EF4-FFF2-40B4-BE49-F238E27FC236}">
                <a16:creationId xmlns:a16="http://schemas.microsoft.com/office/drawing/2014/main" id="{50F9141A-245F-A027-9989-CFC7B26B0AF5}"/>
              </a:ext>
            </a:extLst>
          </p:cNvPr>
          <p:cNvPicPr>
            <a:picLocks noChangeAspect="1"/>
          </p:cNvPicPr>
          <p:nvPr/>
        </p:nvPicPr>
        <p:blipFill>
          <a:blip r:embed="rId3"/>
          <a:stretch>
            <a:fillRect/>
          </a:stretch>
        </p:blipFill>
        <p:spPr>
          <a:xfrm>
            <a:off x="112889" y="0"/>
            <a:ext cx="12192000" cy="6858000"/>
          </a:xfrm>
          <a:prstGeom prst="rect">
            <a:avLst/>
          </a:prstGeom>
        </p:spPr>
      </p:pic>
    </p:spTree>
    <p:extLst>
      <p:ext uri="{BB962C8B-B14F-4D97-AF65-F5344CB8AC3E}">
        <p14:creationId xmlns:p14="http://schemas.microsoft.com/office/powerpoint/2010/main" val="3243850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9F69-89FC-0F72-FF95-140003358C36}"/>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B3C3938E-CCC1-F946-A2B4-A16BC5A7D012}"/>
              </a:ext>
            </a:extLst>
          </p:cNvPr>
          <p:cNvSpPr>
            <a:spLocks noGrp="1"/>
          </p:cNvSpPr>
          <p:nvPr>
            <p:ph idx="1"/>
          </p:nvPr>
        </p:nvSpPr>
        <p:spPr/>
        <p:txBody>
          <a:bodyPr/>
          <a:lstStyle/>
          <a:p>
            <a:endParaRPr lang="fr-FR" noProof="0" dirty="0"/>
          </a:p>
        </p:txBody>
      </p:sp>
      <p:pic>
        <p:nvPicPr>
          <p:cNvPr id="6" name="Picture 5">
            <a:extLst>
              <a:ext uri="{FF2B5EF4-FFF2-40B4-BE49-F238E27FC236}">
                <a16:creationId xmlns:a16="http://schemas.microsoft.com/office/drawing/2014/main" id="{FF9E28AB-C7C9-D706-5FFC-1E01B8369204}"/>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028410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A4F4-8D9E-90CF-A461-A91A759B4DA7}"/>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E9E4914B-F91A-6F42-ABF0-A44267EE5F3B}"/>
              </a:ext>
            </a:extLst>
          </p:cNvPr>
          <p:cNvSpPr>
            <a:spLocks noGrp="1"/>
          </p:cNvSpPr>
          <p:nvPr>
            <p:ph idx="1"/>
          </p:nvPr>
        </p:nvSpPr>
        <p:spPr/>
        <p:txBody>
          <a:bodyPr/>
          <a:lstStyle/>
          <a:p>
            <a:endParaRPr lang="fr-FR" noProof="0" dirty="0"/>
          </a:p>
        </p:txBody>
      </p:sp>
      <p:pic>
        <p:nvPicPr>
          <p:cNvPr id="5" name="Picture 4">
            <a:extLst>
              <a:ext uri="{FF2B5EF4-FFF2-40B4-BE49-F238E27FC236}">
                <a16:creationId xmlns:a16="http://schemas.microsoft.com/office/drawing/2014/main" id="{FC2FE4C0-7438-E27D-C2F9-8C30FE999BC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764632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63E90-C306-E3A3-A572-7CBA4AE3CB83}"/>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D9F5F88A-BC4F-3E1D-6D0A-49AB3149FA06}"/>
              </a:ext>
            </a:extLst>
          </p:cNvPr>
          <p:cNvSpPr>
            <a:spLocks noGrp="1"/>
          </p:cNvSpPr>
          <p:nvPr>
            <p:ph idx="1"/>
          </p:nvPr>
        </p:nvSpPr>
        <p:spPr/>
        <p:txBody>
          <a:bodyPr/>
          <a:lstStyle/>
          <a:p>
            <a:endParaRPr lang="fr-FR" noProof="0" dirty="0"/>
          </a:p>
        </p:txBody>
      </p:sp>
      <p:pic>
        <p:nvPicPr>
          <p:cNvPr id="8" name="Picture 7">
            <a:extLst>
              <a:ext uri="{FF2B5EF4-FFF2-40B4-BE49-F238E27FC236}">
                <a16:creationId xmlns:a16="http://schemas.microsoft.com/office/drawing/2014/main" id="{6782D67D-E435-6555-9C8E-47C8347EB4B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7861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3D56-5B6A-7237-AC05-39C4C57C79D7}"/>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AB1ACF22-C056-9CB7-A296-F73F7F2A26A0}"/>
              </a:ext>
            </a:extLst>
          </p:cNvPr>
          <p:cNvSpPr>
            <a:spLocks noGrp="1"/>
          </p:cNvSpPr>
          <p:nvPr>
            <p:ph idx="1"/>
          </p:nvPr>
        </p:nvSpPr>
        <p:spPr/>
        <p:txBody>
          <a:bodyPr/>
          <a:lstStyle/>
          <a:p>
            <a:endParaRPr lang="fr-FR" noProof="0" dirty="0"/>
          </a:p>
        </p:txBody>
      </p:sp>
      <p:pic>
        <p:nvPicPr>
          <p:cNvPr id="8" name="Picture 7">
            <a:extLst>
              <a:ext uri="{FF2B5EF4-FFF2-40B4-BE49-F238E27FC236}">
                <a16:creationId xmlns:a16="http://schemas.microsoft.com/office/drawing/2014/main" id="{3B8DC352-288E-072A-0BEE-9D94382B4994}"/>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648995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A1455-AF6E-1742-5AE1-506DD68CD1F2}"/>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40D662A1-857D-35E5-0E74-ACCA7378CF13}"/>
              </a:ext>
            </a:extLst>
          </p:cNvPr>
          <p:cNvSpPr>
            <a:spLocks noGrp="1"/>
          </p:cNvSpPr>
          <p:nvPr>
            <p:ph idx="1"/>
          </p:nvPr>
        </p:nvSpPr>
        <p:spPr/>
        <p:txBody>
          <a:bodyPr/>
          <a:lstStyle/>
          <a:p>
            <a:endParaRPr lang="fr-FR" noProof="0" dirty="0"/>
          </a:p>
        </p:txBody>
      </p:sp>
      <p:pic>
        <p:nvPicPr>
          <p:cNvPr id="5" name="Picture 4">
            <a:hlinkClick r:id="rId3"/>
            <a:extLst>
              <a:ext uri="{FF2B5EF4-FFF2-40B4-BE49-F238E27FC236}">
                <a16:creationId xmlns:a16="http://schemas.microsoft.com/office/drawing/2014/main" id="{44D5D41B-A219-BBB5-817D-9A03348C0DC5}"/>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221600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0EA00-8551-8C9F-5A35-183F1FC5B4C8}"/>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9D91F81C-4F56-F072-25E3-C4C1DF48EA87}"/>
              </a:ext>
            </a:extLst>
          </p:cNvPr>
          <p:cNvSpPr>
            <a:spLocks noGrp="1"/>
          </p:cNvSpPr>
          <p:nvPr>
            <p:ph idx="1"/>
          </p:nvPr>
        </p:nvSpPr>
        <p:spPr/>
        <p:txBody>
          <a:bodyPr/>
          <a:lstStyle/>
          <a:p>
            <a:endParaRPr lang="fr-FR" noProof="0" dirty="0"/>
          </a:p>
        </p:txBody>
      </p:sp>
      <p:pic>
        <p:nvPicPr>
          <p:cNvPr id="5" name="Picture 4">
            <a:hlinkClick r:id="rId3"/>
            <a:extLst>
              <a:ext uri="{FF2B5EF4-FFF2-40B4-BE49-F238E27FC236}">
                <a16:creationId xmlns:a16="http://schemas.microsoft.com/office/drawing/2014/main" id="{C0998C09-D7CE-D558-0C48-DDE37A716A10}"/>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2776625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noProof="0" dirty="0"/>
          </a:p>
        </p:txBody>
      </p:sp>
      <p:sp>
        <p:nvSpPr>
          <p:cNvPr id="7" name="Content Placeholder 6">
            <a:extLst>
              <a:ext uri="{FF2B5EF4-FFF2-40B4-BE49-F238E27FC236}">
                <a16:creationId xmlns:a16="http://schemas.microsoft.com/office/drawing/2014/main" id="{7ADCCA20-8D5E-55EC-7E9D-1427A49F79E4}"/>
              </a:ext>
            </a:extLst>
          </p:cNvPr>
          <p:cNvSpPr>
            <a:spLocks noGrp="1"/>
          </p:cNvSpPr>
          <p:nvPr>
            <p:ph idx="1"/>
          </p:nvPr>
        </p:nvSpPr>
        <p:spPr/>
        <p:txBody>
          <a:bodyPr/>
          <a:lstStyle/>
          <a:p>
            <a:endParaRPr lang="fr-FR" noProof="0" dirty="0"/>
          </a:p>
        </p:txBody>
      </p:sp>
      <p:pic>
        <p:nvPicPr>
          <p:cNvPr id="9" name="Picture 8">
            <a:extLst>
              <a:ext uri="{FF2B5EF4-FFF2-40B4-BE49-F238E27FC236}">
                <a16:creationId xmlns:a16="http://schemas.microsoft.com/office/drawing/2014/main" id="{6319852B-BA11-F39F-C940-44AB8191841B}"/>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91647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3C2A-B5FA-0202-540B-96F8FDB71298}"/>
              </a:ext>
            </a:extLst>
          </p:cNvPr>
          <p:cNvSpPr>
            <a:spLocks noGrp="1"/>
          </p:cNvSpPr>
          <p:nvPr>
            <p:ph type="title"/>
          </p:nvPr>
        </p:nvSpPr>
        <p:spPr/>
        <p:txBody>
          <a:bodyPr/>
          <a:lstStyle/>
          <a:p>
            <a:endParaRPr lang="fr-FR" noProof="0" dirty="0"/>
          </a:p>
        </p:txBody>
      </p:sp>
      <p:sp>
        <p:nvSpPr>
          <p:cNvPr id="3" name="Content Placeholder 2">
            <a:extLst>
              <a:ext uri="{FF2B5EF4-FFF2-40B4-BE49-F238E27FC236}">
                <a16:creationId xmlns:a16="http://schemas.microsoft.com/office/drawing/2014/main" id="{8211FFAC-C754-B063-414F-77A2B1E87985}"/>
              </a:ext>
            </a:extLst>
          </p:cNvPr>
          <p:cNvSpPr>
            <a:spLocks noGrp="1"/>
          </p:cNvSpPr>
          <p:nvPr>
            <p:ph idx="1"/>
          </p:nvPr>
        </p:nvSpPr>
        <p:spPr/>
        <p:txBody>
          <a:bodyPr/>
          <a:lstStyle/>
          <a:p>
            <a:endParaRPr lang="fr-FR" noProof="0" dirty="0"/>
          </a:p>
        </p:txBody>
      </p:sp>
      <p:pic>
        <p:nvPicPr>
          <p:cNvPr id="5" name="Picture 4">
            <a:extLst>
              <a:ext uri="{FF2B5EF4-FFF2-40B4-BE49-F238E27FC236}">
                <a16:creationId xmlns:a16="http://schemas.microsoft.com/office/drawing/2014/main" id="{6B05E9A9-CB4B-7A26-D161-0AF9674D26A4}"/>
              </a:ext>
            </a:extLst>
          </p:cNvPr>
          <p:cNvPicPr>
            <a:picLocks noChangeAspect="1"/>
          </p:cNvPicPr>
          <p:nvPr/>
        </p:nvPicPr>
        <p:blipFill>
          <a:blip r:embed="rId3"/>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F92D1A1-33DF-32EA-8F84-07E9CB019F10}"/>
              </a:ext>
            </a:extLst>
          </p:cNvPr>
          <p:cNvPicPr>
            <a:picLocks noChangeAspect="1"/>
          </p:cNvPicPr>
          <p:nvPr/>
        </p:nvPicPr>
        <p:blipFill>
          <a:blip r:embed="rId4"/>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59066A6-BF84-79E3-1FA0-373C94763071}"/>
              </a:ext>
            </a:extLst>
          </p:cNvPr>
          <p:cNvPicPr>
            <a:picLocks noChangeAspect="1"/>
          </p:cNvPicPr>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089341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40F7-22AF-2ACF-10D8-501FCC981CD6}"/>
              </a:ext>
            </a:extLst>
          </p:cNvPr>
          <p:cNvSpPr>
            <a:spLocks noGrp="1"/>
          </p:cNvSpPr>
          <p:nvPr>
            <p:ph type="title"/>
          </p:nvPr>
        </p:nvSpPr>
        <p:spPr/>
        <p:txBody>
          <a:bodyPr/>
          <a:lstStyle/>
          <a:p>
            <a:endParaRPr lang="fr-FR" noProof="0" dirty="0"/>
          </a:p>
        </p:txBody>
      </p:sp>
      <p:sp>
        <p:nvSpPr>
          <p:cNvPr id="9" name="Content Placeholder 8">
            <a:extLst>
              <a:ext uri="{FF2B5EF4-FFF2-40B4-BE49-F238E27FC236}">
                <a16:creationId xmlns:a16="http://schemas.microsoft.com/office/drawing/2014/main" id="{8046C4BC-4C5C-4412-6AB7-656C783AB759}"/>
              </a:ext>
            </a:extLst>
          </p:cNvPr>
          <p:cNvSpPr>
            <a:spLocks noGrp="1"/>
          </p:cNvSpPr>
          <p:nvPr>
            <p:ph idx="1"/>
          </p:nvPr>
        </p:nvSpPr>
        <p:spPr/>
        <p:txBody>
          <a:bodyPr/>
          <a:lstStyle/>
          <a:p>
            <a:endParaRPr lang="fr-FR" noProof="0" dirty="0"/>
          </a:p>
        </p:txBody>
      </p:sp>
      <p:pic>
        <p:nvPicPr>
          <p:cNvPr id="4" name="Picture 3">
            <a:extLst>
              <a:ext uri="{FF2B5EF4-FFF2-40B4-BE49-F238E27FC236}">
                <a16:creationId xmlns:a16="http://schemas.microsoft.com/office/drawing/2014/main" id="{F4FBC6E9-56C2-A1E3-6DE3-4E64F5EFD336}"/>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785072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a839770-e9fc-4737-905c-370f65b0e224}" enabled="0" method="" siteId="{9a839770-e9fc-4737-905c-370f65b0e224}" removed="1"/>
</clbl:labelList>
</file>

<file path=docProps/app.xml><?xml version="1.0" encoding="utf-8"?>
<Properties xmlns="http://schemas.openxmlformats.org/officeDocument/2006/extended-properties" xmlns:vt="http://schemas.openxmlformats.org/officeDocument/2006/docPropsVTypes">
  <TotalTime>3203</TotalTime>
  <Words>732</Words>
  <Application>Microsoft Office PowerPoint</Application>
  <PresentationFormat>Widescreen</PresentationFormat>
  <Paragraphs>36</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Segoe Sans</vt: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 Yifang</dc:creator>
  <cp:lastModifiedBy>DONG Yifang</cp:lastModifiedBy>
  <cp:revision>2</cp:revision>
  <dcterms:created xsi:type="dcterms:W3CDTF">2025-01-09T11:32:52Z</dcterms:created>
  <dcterms:modified xsi:type="dcterms:W3CDTF">2025-04-15T23:43:31Z</dcterms:modified>
</cp:coreProperties>
</file>